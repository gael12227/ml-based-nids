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84" r:id="rId8"/>
    <p:sldId id="267" r:id="rId9"/>
    <p:sldId id="268" r:id="rId10"/>
    <p:sldId id="319" r:id="rId11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13"/>
    </p:embeddedFont>
    <p:embeddedFont>
      <p:font typeface="Crimson Text" panose="020B0604020202020204" charset="0"/>
      <p:regular r:id="rId14"/>
      <p:bold r:id="rId15"/>
      <p:italic r:id="rId16"/>
      <p:boldItalic r:id="rId17"/>
    </p:embeddedFont>
    <p:embeddedFont>
      <p:font typeface="Merriweather Light" panose="020F0502020204030204" pitchFamily="2" charset="0"/>
      <p:regular r:id="rId18"/>
      <p:bold r:id="rId19"/>
      <p:italic r:id="rId20"/>
      <p:boldItalic r:id="rId21"/>
    </p:embeddedFont>
    <p:embeddedFont>
      <p:font typeface="Montserrat" panose="020F0502020204030204" pitchFamily="2" charset="0"/>
      <p:regular r:id="rId22"/>
      <p:bold r:id="rId23"/>
      <p:italic r:id="rId24"/>
      <p:boldItalic r:id="rId25"/>
    </p:embeddedFont>
    <p:embeddedFont>
      <p:font typeface="Vidaloka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91763A-EFDE-409B-A268-DBDDEB79ADDD}">
  <a:tblStyle styleId="{8A91763A-EFDE-409B-A268-DBDDEB79AD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cc7554a049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cc7554a049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07a9a8b46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07a9a8b46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1083f33e91c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1083f33e91c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2" name="Google Shape;212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1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subTitle" idx="2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48"/>
          <p:cNvSpPr txBox="1">
            <a:spLocks noGrp="1"/>
          </p:cNvSpPr>
          <p:nvPr>
            <p:ph type="subTitle" idx="3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subTitle" idx="4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48"/>
          <p:cNvSpPr txBox="1">
            <a:spLocks noGrp="1"/>
          </p:cNvSpPr>
          <p:nvPr>
            <p:ph type="subTitle" idx="5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6" name="Google Shape;436;p48"/>
          <p:cNvSpPr txBox="1">
            <a:spLocks noGrp="1"/>
          </p:cNvSpPr>
          <p:nvPr>
            <p:ph type="subTitle" idx="6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37" name="Google Shape;437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0" r:id="rId5"/>
    <p:sldLayoutId id="2147483661" r:id="rId6"/>
    <p:sldLayoutId id="2147483662" r:id="rId7"/>
    <p:sldLayoutId id="2147483663" r:id="rId8"/>
    <p:sldLayoutId id="2147483666" r:id="rId9"/>
    <p:sldLayoutId id="2147483674" r:id="rId10"/>
    <p:sldLayoutId id="2147483694" r:id="rId11"/>
    <p:sldLayoutId id="2147483696" r:id="rId12"/>
    <p:sldLayoutId id="2147483697" r:id="rId13"/>
    <p:sldLayoutId id="2147483698" r:id="rId14"/>
    <p:sldLayoutId id="214748369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271239" y="623539"/>
            <a:ext cx="7799275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dirty="0"/>
              <a:t>Innovative Approach to Machine Learning based Network Intrusion Detection System</a:t>
            </a:r>
            <a:endParaRPr sz="4000"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0" y="2929193"/>
            <a:ext cx="7064100" cy="15907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sz="1200" b="1" dirty="0"/>
              <a:t>Course:</a:t>
            </a:r>
            <a:r>
              <a:rPr lang="en-IN" sz="1200" dirty="0"/>
              <a:t> BACSE203 Computer Network</a:t>
            </a:r>
          </a:p>
          <a:p>
            <a:pPr lvl="0" algn="l"/>
            <a:endParaRPr lang="en-IN" sz="1200" dirty="0"/>
          </a:p>
          <a:p>
            <a:pPr algn="l"/>
            <a:r>
              <a:rPr lang="en-IN" sz="1200" b="1" dirty="0"/>
              <a:t>Submitted by: </a:t>
            </a:r>
            <a:endParaRPr lang="en-IN" sz="1200" dirty="0"/>
          </a:p>
          <a:p>
            <a:pPr algn="l"/>
            <a:r>
              <a:rPr lang="en-IN" sz="1200" b="1" dirty="0"/>
              <a:t>Member 1: </a:t>
            </a:r>
            <a:r>
              <a:rPr lang="en-IN" sz="1200" dirty="0"/>
              <a:t>Abburu Gayatri Sree (25BDE0045)</a:t>
            </a:r>
          </a:p>
          <a:p>
            <a:pPr algn="l"/>
            <a:r>
              <a:rPr lang="en-IN" sz="1200" b="1" dirty="0"/>
              <a:t>Member 2: </a:t>
            </a:r>
            <a:r>
              <a:rPr lang="en-IN" sz="1200" dirty="0"/>
              <a:t>Shashwat Jaiswal (25BDE0060)</a:t>
            </a:r>
          </a:p>
          <a:p>
            <a:pPr algn="l"/>
            <a:r>
              <a:rPr lang="en-IN" sz="1200" b="1" dirty="0"/>
              <a:t>Member 3: </a:t>
            </a:r>
            <a:r>
              <a:rPr lang="en-IN" sz="1200" dirty="0" err="1"/>
              <a:t>Swathya</a:t>
            </a:r>
            <a:r>
              <a:rPr lang="en-IN" sz="1200" dirty="0"/>
              <a:t> Mohit </a:t>
            </a:r>
            <a:r>
              <a:rPr lang="en-IN" sz="1200" dirty="0" err="1"/>
              <a:t>Tulsian</a:t>
            </a:r>
            <a:r>
              <a:rPr lang="en-IN" sz="1200" dirty="0"/>
              <a:t> (25BYB0104)</a:t>
            </a:r>
          </a:p>
          <a:p>
            <a:pPr algn="l"/>
            <a:r>
              <a:rPr lang="en-IN" sz="1200" b="1" dirty="0"/>
              <a:t>Member 4: </a:t>
            </a:r>
            <a:r>
              <a:rPr lang="en-IN" sz="1200" dirty="0"/>
              <a:t>KH </a:t>
            </a:r>
            <a:r>
              <a:rPr lang="en-IN" sz="1200" dirty="0" err="1"/>
              <a:t>Manishkanda</a:t>
            </a:r>
            <a:r>
              <a:rPr lang="en-IN" sz="1200" dirty="0"/>
              <a:t> (25BDE0063)</a:t>
            </a:r>
          </a:p>
          <a:p>
            <a:pPr algn="l"/>
            <a:endParaRPr lang="en-IN" sz="1200" dirty="0"/>
          </a:p>
          <a:p>
            <a:pPr algn="l"/>
            <a:r>
              <a:rPr lang="en-IN" sz="1200" b="1" dirty="0"/>
              <a:t>Under the Guidance of:</a:t>
            </a:r>
            <a:r>
              <a:rPr lang="en-IN" sz="1200" dirty="0"/>
              <a:t> Dr. Priya M, Associate Professor </a:t>
            </a:r>
          </a:p>
          <a:p>
            <a:pPr algn="l"/>
            <a:r>
              <a:rPr lang="en-IN" sz="1200" b="1" dirty="0"/>
              <a:t>Date of Submission:</a:t>
            </a:r>
            <a:r>
              <a:rPr lang="en-IN" sz="1200" dirty="0"/>
              <a:t> 06/10/2026 </a:t>
            </a:r>
            <a:endParaRPr lang="en-IN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Abstract</a:t>
            </a:r>
            <a:endParaRPr dirty="0"/>
          </a:p>
        </p:txBody>
      </p:sp>
      <p:sp>
        <p:nvSpPr>
          <p:cNvPr id="514" name="Google Shape;514;p62"/>
          <p:cNvSpPr txBox="1">
            <a:spLocks noGrp="1"/>
          </p:cNvSpPr>
          <p:nvPr>
            <p:ph type="title" idx="4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5" name="Google Shape;515;p62"/>
          <p:cNvSpPr txBox="1">
            <a:spLocks noGrp="1"/>
          </p:cNvSpPr>
          <p:nvPr>
            <p:ph type="title" idx="13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6" name="Google Shape;516;p62"/>
          <p:cNvSpPr txBox="1">
            <a:spLocks noGrp="1"/>
          </p:cNvSpPr>
          <p:nvPr>
            <p:ph type="title" idx="2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17" name="Google Shape;517;p62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519" name="Google Shape;519;p62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Proposed Solution</a:t>
            </a:r>
            <a:endParaRPr dirty="0"/>
          </a:p>
        </p:txBody>
      </p:sp>
      <p:sp>
        <p:nvSpPr>
          <p:cNvPr id="520" name="Google Shape;520;p62"/>
          <p:cNvSpPr txBox="1">
            <a:spLocks noGrp="1"/>
          </p:cNvSpPr>
          <p:nvPr>
            <p:ph type="title" idx="7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21" name="Google Shape;521;p62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523" name="Google Shape;523;p62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Current Progress</a:t>
            </a:r>
            <a:endParaRPr dirty="0"/>
          </a:p>
        </p:txBody>
      </p:sp>
      <p:sp>
        <p:nvSpPr>
          <p:cNvPr id="524" name="Google Shape;524;p62"/>
          <p:cNvSpPr txBox="1">
            <a:spLocks noGrp="1"/>
          </p:cNvSpPr>
          <p:nvPr>
            <p:ph type="title" idx="16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26" name="Google Shape;526;p62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Phase</a:t>
            </a:r>
            <a:endParaRPr dirty="0"/>
          </a:p>
        </p:txBody>
      </p:sp>
      <p:sp>
        <p:nvSpPr>
          <p:cNvPr id="527" name="Google Shape;527;p62"/>
          <p:cNvSpPr txBox="1">
            <a:spLocks noGrp="1"/>
          </p:cNvSpPr>
          <p:nvPr>
            <p:ph type="title" idx="19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529" name="Google Shape;529;p62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1CF02A-5340-AFA9-3619-8D0E73358640}"/>
              </a:ext>
            </a:extLst>
          </p:cNvPr>
          <p:cNvSpPr txBox="1"/>
          <p:nvPr/>
        </p:nvSpPr>
        <p:spPr>
          <a:xfrm>
            <a:off x="226741" y="1785949"/>
            <a:ext cx="6657279" cy="263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Bahnschrift Light" panose="020B0502040204020203" pitchFamily="34" charset="0"/>
              </a:rPr>
              <a:t>This project develops an anomaly-based Network Intrusion Detection System (NIDS) utilizing machine learning to identify complex and zero-day cyber threats. </a:t>
            </a:r>
          </a:p>
          <a:p>
            <a:pPr lvl="0" algn="ctr">
              <a:lnSpc>
                <a:spcPct val="150000"/>
              </a:lnSpc>
            </a:pPr>
            <a:endParaRPr lang="en-IN" sz="1600" dirty="0">
              <a:latin typeface="Bahnschrift Light" panose="020B0502040204020203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Bahnschrift Light" panose="020B0502040204020203" pitchFamily="34" charset="0"/>
              </a:rPr>
              <a:t>It bridges high-accuracy threat detection with Explainable AI (XAI) to provide transparent and feature-level root-cause analysis for network administrators.</a:t>
            </a:r>
          </a:p>
        </p:txBody>
      </p:sp>
      <p:sp>
        <p:nvSpPr>
          <p:cNvPr id="8" name="Google Shape;529;p62">
            <a:extLst>
              <a:ext uri="{FF2B5EF4-FFF2-40B4-BE49-F238E27FC236}">
                <a16:creationId xmlns:a16="http://schemas.microsoft.com/office/drawing/2014/main" id="{EFB151F0-A275-15B4-EEA0-1615A0E52601}"/>
              </a:ext>
            </a:extLst>
          </p:cNvPr>
          <p:cNvSpPr txBox="1">
            <a:spLocks/>
          </p:cNvSpPr>
          <p:nvPr/>
        </p:nvSpPr>
        <p:spPr>
          <a:xfrm>
            <a:off x="2332350" y="526801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/>
              <a:t>Abstract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947CB3-553D-6888-81FF-B89CA7319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350" y="2196995"/>
            <a:ext cx="1809909" cy="18099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62">
            <a:extLst>
              <a:ext uri="{FF2B5EF4-FFF2-40B4-BE49-F238E27FC236}">
                <a16:creationId xmlns:a16="http://schemas.microsoft.com/office/drawing/2014/main" id="{DB7EB2A6-C5FF-08F8-9467-74008269893B}"/>
              </a:ext>
            </a:extLst>
          </p:cNvPr>
          <p:cNvSpPr txBox="1">
            <a:spLocks/>
          </p:cNvSpPr>
          <p:nvPr/>
        </p:nvSpPr>
        <p:spPr>
          <a:xfrm>
            <a:off x="2332350" y="526801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/>
              <a:t>Problem Statement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E5D63E8-D405-D0FD-269B-8940A3D48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675" y="1965928"/>
            <a:ext cx="7418188" cy="2650771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800" dirty="0">
                <a:latin typeface="Bahnschrift Light" panose="020B0502040204020203" pitchFamily="34" charset="0"/>
              </a:rPr>
              <a:t>Traditional signature-based security systems (e.g. Snort) are highly vulnerable to unknown and/or rapidly evolving cyber threats and payload mutations.</a:t>
            </a:r>
          </a:p>
          <a:p>
            <a:pPr lvl="0"/>
            <a:endParaRPr lang="en-IN" sz="1800" dirty="0">
              <a:latin typeface="Bahnschrift Light" panose="020B0502040204020203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800" dirty="0">
                <a:latin typeface="Bahnschrift Light" panose="020B0502040204020203" pitchFamily="34" charset="0"/>
              </a:rPr>
              <a:t>While standard machine learning classifiers improve detection rates, they operate as "black boxes" leaving administrators without proper insight into exactly why a specific network flow was classified as malicious.</a:t>
            </a:r>
          </a:p>
          <a:p>
            <a:endParaRPr lang="en-IN" sz="18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subTitle" idx="1"/>
          </p:nvPr>
        </p:nvSpPr>
        <p:spPr>
          <a:xfrm>
            <a:off x="346556" y="1714050"/>
            <a:ext cx="7362654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600" b="1" dirty="0">
                <a:latin typeface="Bahnschrift Light" panose="020B0502040204020203" pitchFamily="34" charset="0"/>
              </a:rPr>
              <a:t>Model Benchmarking:</a:t>
            </a:r>
            <a:r>
              <a:rPr lang="en-IN" sz="1600" dirty="0">
                <a:latin typeface="Bahnschrift Light" panose="020B0502040204020203" pitchFamily="34" charset="0"/>
              </a:rPr>
              <a:t> Compare a hardware-accelerated XGBoost classifier against a stable Random Forest baseline to optimize the trade-off between speed and accuracy.</a:t>
            </a:r>
          </a:p>
          <a:p>
            <a:pPr lvl="0"/>
            <a:endParaRPr lang="en-IN" sz="1600" dirty="0">
              <a:latin typeface="Bahnschrift Light" panose="020B0502040204020203" pitchFamily="34" charset="0"/>
            </a:endParaRPr>
          </a:p>
          <a:p>
            <a:pPr lvl="0"/>
            <a:r>
              <a:rPr lang="en-IN" sz="1600" b="1" dirty="0">
                <a:latin typeface="Bahnschrift Light" panose="020B0502040204020203" pitchFamily="34" charset="0"/>
              </a:rPr>
              <a:t>Explainable AI:</a:t>
            </a:r>
            <a:r>
              <a:rPr lang="en-IN" sz="1600" dirty="0">
                <a:latin typeface="Bahnschrift Light" panose="020B0502040204020203" pitchFamily="34" charset="0"/>
              </a:rPr>
              <a:t> Integrate SHAP (</a:t>
            </a:r>
            <a:r>
              <a:rPr lang="en-IN" sz="1600" dirty="0" err="1">
                <a:latin typeface="Bahnschrift Light" panose="020B0502040204020203" pitchFamily="34" charset="0"/>
              </a:rPr>
              <a:t>SHapley</a:t>
            </a:r>
            <a:r>
              <a:rPr lang="en-IN" sz="1600" dirty="0">
                <a:latin typeface="Bahnschrift Light" panose="020B0502040204020203" pitchFamily="34" charset="0"/>
              </a:rPr>
              <a:t> Additive </a:t>
            </a:r>
            <a:r>
              <a:rPr lang="en-IN" sz="1600" dirty="0" err="1">
                <a:latin typeface="Bahnschrift Light" panose="020B0502040204020203" pitchFamily="34" charset="0"/>
              </a:rPr>
              <a:t>exPlanations</a:t>
            </a:r>
            <a:r>
              <a:rPr lang="en-IN" sz="1600" dirty="0">
                <a:latin typeface="Bahnschrift Light" panose="020B0502040204020203" pitchFamily="34" charset="0"/>
              </a:rPr>
              <a:t>) to trace intrusion alerts directly back to their triggering packet attributes.</a:t>
            </a:r>
          </a:p>
          <a:p>
            <a:pPr lvl="0"/>
            <a:endParaRPr lang="en-IN" sz="1600" dirty="0">
              <a:latin typeface="Bahnschrift Light" panose="020B0502040204020203" pitchFamily="34" charset="0"/>
            </a:endParaRPr>
          </a:p>
          <a:p>
            <a:pPr lvl="0"/>
            <a:r>
              <a:rPr lang="en-IN" sz="1600" b="1" dirty="0">
                <a:latin typeface="Bahnschrift Light" panose="020B0502040204020203" pitchFamily="34" charset="0"/>
              </a:rPr>
              <a:t>Interactive Inspection:</a:t>
            </a:r>
            <a:r>
              <a:rPr lang="en-IN" sz="1600" dirty="0">
                <a:latin typeface="Bahnschrift Light" panose="020B0502040204020203" pitchFamily="34" charset="0"/>
              </a:rPr>
              <a:t> Build a lightweight </a:t>
            </a:r>
            <a:r>
              <a:rPr lang="en-IN" sz="1600" dirty="0" err="1">
                <a:latin typeface="Bahnschrift Light" panose="020B0502040204020203" pitchFamily="34" charset="0"/>
              </a:rPr>
              <a:t>Streamlit</a:t>
            </a:r>
            <a:r>
              <a:rPr lang="en-IN" sz="1600" dirty="0">
                <a:latin typeface="Bahnschrift Light" panose="020B0502040204020203" pitchFamily="34" charset="0"/>
              </a:rPr>
              <a:t> web dashboard capable of ingesting and </a:t>
            </a:r>
            <a:r>
              <a:rPr lang="en-IN" sz="1600" dirty="0" err="1">
                <a:latin typeface="Bahnschrift Light" panose="020B0502040204020203" pitchFamily="34" charset="0"/>
              </a:rPr>
              <a:t>analyzing</a:t>
            </a:r>
            <a:r>
              <a:rPr lang="en-IN" sz="1600" dirty="0">
                <a:latin typeface="Bahnschrift Light" panose="020B0502040204020203" pitchFamily="34" charset="0"/>
              </a:rPr>
              <a:t> offline network packet captures (.</a:t>
            </a:r>
            <a:r>
              <a:rPr lang="en-IN" sz="1600" dirty="0" err="1">
                <a:latin typeface="Bahnschrift Light" panose="020B0502040204020203" pitchFamily="34" charset="0"/>
              </a:rPr>
              <a:t>pcap</a:t>
            </a:r>
            <a:r>
              <a:rPr lang="en-IN" sz="1600" dirty="0">
                <a:latin typeface="Bahnschrift Light" panose="020B0502040204020203" pitchFamily="34" charset="0"/>
              </a:rPr>
              <a:t>) in real-time.</a:t>
            </a:r>
          </a:p>
        </p:txBody>
      </p:sp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895950" y="625808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Solution</a:t>
            </a:r>
            <a:endParaRPr dirty="0"/>
          </a:p>
        </p:txBody>
      </p:sp>
      <p:grpSp>
        <p:nvGrpSpPr>
          <p:cNvPr id="2" name="Google Shape;1779;p124">
            <a:extLst>
              <a:ext uri="{FF2B5EF4-FFF2-40B4-BE49-F238E27FC236}">
                <a16:creationId xmlns:a16="http://schemas.microsoft.com/office/drawing/2014/main" id="{92CD3DF7-CDED-5E72-0025-0181EB2679DB}"/>
              </a:ext>
            </a:extLst>
          </p:cNvPr>
          <p:cNvGrpSpPr/>
          <p:nvPr/>
        </p:nvGrpSpPr>
        <p:grpSpPr>
          <a:xfrm>
            <a:off x="414644" y="625808"/>
            <a:ext cx="395677" cy="496747"/>
            <a:chOff x="2392127" y="1763233"/>
            <a:chExt cx="211062" cy="323844"/>
          </a:xfrm>
        </p:grpSpPr>
        <p:sp>
          <p:nvSpPr>
            <p:cNvPr id="3" name="Google Shape;1780;p124">
              <a:extLst>
                <a:ext uri="{FF2B5EF4-FFF2-40B4-BE49-F238E27FC236}">
                  <a16:creationId xmlns:a16="http://schemas.microsoft.com/office/drawing/2014/main" id="{E9C232E7-F7F9-F6FA-49D2-BF88F78F320A}"/>
                </a:ext>
              </a:extLst>
            </p:cNvPr>
            <p:cNvSpPr/>
            <p:nvPr/>
          </p:nvSpPr>
          <p:spPr>
            <a:xfrm>
              <a:off x="2392127" y="2039483"/>
              <a:ext cx="208949" cy="47594"/>
            </a:xfrm>
            <a:custGeom>
              <a:avLst/>
              <a:gdLst/>
              <a:ahLst/>
              <a:cxnLst/>
              <a:rect l="l" t="t" r="r" b="b"/>
              <a:pathLst>
                <a:path w="10677" h="2432" extrusionOk="0">
                  <a:moveTo>
                    <a:pt x="491" y="0"/>
                  </a:moveTo>
                  <a:cubicBezTo>
                    <a:pt x="226" y="0"/>
                    <a:pt x="1" y="216"/>
                    <a:pt x="1" y="491"/>
                  </a:cubicBezTo>
                  <a:lnTo>
                    <a:pt x="1" y="1941"/>
                  </a:lnTo>
                  <a:cubicBezTo>
                    <a:pt x="1" y="2206"/>
                    <a:pt x="226" y="2432"/>
                    <a:pt x="491" y="2432"/>
                  </a:cubicBezTo>
                  <a:lnTo>
                    <a:pt x="10186" y="2432"/>
                  </a:lnTo>
                  <a:cubicBezTo>
                    <a:pt x="10451" y="2432"/>
                    <a:pt x="10676" y="2206"/>
                    <a:pt x="10676" y="1941"/>
                  </a:cubicBezTo>
                  <a:lnTo>
                    <a:pt x="10676" y="491"/>
                  </a:lnTo>
                  <a:cubicBezTo>
                    <a:pt x="10676" y="216"/>
                    <a:pt x="10451" y="0"/>
                    <a:pt x="10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81;p124">
              <a:extLst>
                <a:ext uri="{FF2B5EF4-FFF2-40B4-BE49-F238E27FC236}">
                  <a16:creationId xmlns:a16="http://schemas.microsoft.com/office/drawing/2014/main" id="{030690B0-AFAA-4886-1E17-6DB35F1F2376}"/>
                </a:ext>
              </a:extLst>
            </p:cNvPr>
            <p:cNvSpPr/>
            <p:nvPr/>
          </p:nvSpPr>
          <p:spPr>
            <a:xfrm>
              <a:off x="2411325" y="1763233"/>
              <a:ext cx="191864" cy="257267"/>
            </a:xfrm>
            <a:custGeom>
              <a:avLst/>
              <a:gdLst/>
              <a:ahLst/>
              <a:cxnLst/>
              <a:rect l="l" t="t" r="r" b="b"/>
              <a:pathLst>
                <a:path w="9804" h="13146" extrusionOk="0">
                  <a:moveTo>
                    <a:pt x="5325" y="3863"/>
                  </a:moveTo>
                  <a:cubicBezTo>
                    <a:pt x="5579" y="3863"/>
                    <a:pt x="5820" y="4063"/>
                    <a:pt x="5813" y="4362"/>
                  </a:cubicBezTo>
                  <a:cubicBezTo>
                    <a:pt x="5813" y="4627"/>
                    <a:pt x="5598" y="4843"/>
                    <a:pt x="5323" y="4843"/>
                  </a:cubicBezTo>
                  <a:cubicBezTo>
                    <a:pt x="4892" y="4843"/>
                    <a:pt x="4666" y="4313"/>
                    <a:pt x="4980" y="4009"/>
                  </a:cubicBezTo>
                  <a:cubicBezTo>
                    <a:pt x="5081" y="3908"/>
                    <a:pt x="5204" y="3863"/>
                    <a:pt x="5325" y="3863"/>
                  </a:cubicBezTo>
                  <a:close/>
                  <a:moveTo>
                    <a:pt x="5333" y="0"/>
                  </a:moveTo>
                  <a:cubicBezTo>
                    <a:pt x="4166" y="0"/>
                    <a:pt x="3167" y="823"/>
                    <a:pt x="2951" y="1970"/>
                  </a:cubicBezTo>
                  <a:cubicBezTo>
                    <a:pt x="1255" y="2186"/>
                    <a:pt x="0" y="3627"/>
                    <a:pt x="0" y="5333"/>
                  </a:cubicBezTo>
                  <a:lnTo>
                    <a:pt x="0" y="13146"/>
                  </a:lnTo>
                  <a:lnTo>
                    <a:pt x="8558" y="13146"/>
                  </a:lnTo>
                  <a:cubicBezTo>
                    <a:pt x="8284" y="12401"/>
                    <a:pt x="7745" y="11764"/>
                    <a:pt x="7039" y="11381"/>
                  </a:cubicBezTo>
                  <a:cubicBezTo>
                    <a:pt x="6284" y="10950"/>
                    <a:pt x="5813" y="10146"/>
                    <a:pt x="5813" y="9274"/>
                  </a:cubicBezTo>
                  <a:lnTo>
                    <a:pt x="5813" y="8725"/>
                  </a:lnTo>
                  <a:lnTo>
                    <a:pt x="5323" y="8725"/>
                  </a:lnTo>
                  <a:cubicBezTo>
                    <a:pt x="3676" y="8725"/>
                    <a:pt x="2255" y="7529"/>
                    <a:pt x="1980" y="5892"/>
                  </a:cubicBezTo>
                  <a:cubicBezTo>
                    <a:pt x="1892" y="5607"/>
                    <a:pt x="2078" y="5313"/>
                    <a:pt x="2372" y="5264"/>
                  </a:cubicBezTo>
                  <a:cubicBezTo>
                    <a:pt x="2400" y="5260"/>
                    <a:pt x="2427" y="5258"/>
                    <a:pt x="2453" y="5258"/>
                  </a:cubicBezTo>
                  <a:cubicBezTo>
                    <a:pt x="2713" y="5258"/>
                    <a:pt x="2932" y="5468"/>
                    <a:pt x="2941" y="5735"/>
                  </a:cubicBezTo>
                  <a:cubicBezTo>
                    <a:pt x="3137" y="6901"/>
                    <a:pt x="4147" y="7754"/>
                    <a:pt x="5323" y="7754"/>
                  </a:cubicBezTo>
                  <a:lnTo>
                    <a:pt x="6186" y="7754"/>
                  </a:lnTo>
                  <a:lnTo>
                    <a:pt x="7215" y="8274"/>
                  </a:lnTo>
                  <a:cubicBezTo>
                    <a:pt x="7425" y="8376"/>
                    <a:pt x="7647" y="8425"/>
                    <a:pt x="7866" y="8425"/>
                  </a:cubicBezTo>
                  <a:cubicBezTo>
                    <a:pt x="8361" y="8425"/>
                    <a:pt x="8838" y="8174"/>
                    <a:pt x="9117" y="7725"/>
                  </a:cubicBezTo>
                  <a:cubicBezTo>
                    <a:pt x="9803" y="6568"/>
                    <a:pt x="9529" y="5078"/>
                    <a:pt x="8460" y="4255"/>
                  </a:cubicBezTo>
                  <a:lnTo>
                    <a:pt x="5813" y="2186"/>
                  </a:lnTo>
                  <a:lnTo>
                    <a:pt x="5813" y="490"/>
                  </a:lnTo>
                  <a:cubicBezTo>
                    <a:pt x="5813" y="225"/>
                    <a:pt x="5598" y="0"/>
                    <a:pt x="5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6"/>
          <p:cNvSpPr txBox="1">
            <a:spLocks noGrp="1"/>
          </p:cNvSpPr>
          <p:nvPr>
            <p:ph type="subTitle" idx="1"/>
          </p:nvPr>
        </p:nvSpPr>
        <p:spPr>
          <a:xfrm>
            <a:off x="356838" y="1102137"/>
            <a:ext cx="8549269" cy="34326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Bahnschrift Light" panose="020B0502040204020203" pitchFamily="34" charset="0"/>
              </a:rPr>
              <a:t>Data Preprocessing:</a:t>
            </a:r>
            <a:r>
              <a:rPr lang="en-IN" dirty="0">
                <a:latin typeface="Bahnschrift Light" panose="020B0502040204020203" pitchFamily="34" charset="0"/>
              </a:rPr>
              <a:t> Clean the NSL-KDD benchmark dataset, applying categorical one-hot encoding and standard normalization with zero data leakage.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endParaRPr lang="en-IN" dirty="0">
              <a:latin typeface="Bahnschrift Light" panose="020B0502040204020203" pitchFamily="34" charset="0"/>
            </a:endParaRP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Bahnschrift Light" panose="020B0502040204020203" pitchFamily="34" charset="0"/>
              </a:rPr>
              <a:t>Model Training:</a:t>
            </a:r>
            <a:r>
              <a:rPr lang="en-IN" dirty="0">
                <a:latin typeface="Bahnschrift Light" panose="020B0502040204020203" pitchFamily="34" charset="0"/>
              </a:rPr>
              <a:t> Train both classifiers on the </a:t>
            </a:r>
            <a:r>
              <a:rPr lang="en-IN" dirty="0" err="1">
                <a:latin typeface="Bahnschrift Light" panose="020B0502040204020203" pitchFamily="34" charset="0"/>
              </a:rPr>
              <a:t>preprocessed</a:t>
            </a:r>
            <a:r>
              <a:rPr lang="en-IN" dirty="0">
                <a:latin typeface="Bahnschrift Light" panose="020B0502040204020203" pitchFamily="34" charset="0"/>
              </a:rPr>
              <a:t> matrices, utilizing GPU acceleration (</a:t>
            </a:r>
            <a:r>
              <a:rPr lang="en-IN" dirty="0" err="1">
                <a:latin typeface="Bahnschrift Light" panose="020B0502040204020203" pitchFamily="34" charset="0"/>
              </a:rPr>
              <a:t>tree_method</a:t>
            </a:r>
            <a:r>
              <a:rPr lang="en-IN" dirty="0">
                <a:latin typeface="Bahnschrift Light" panose="020B0502040204020203" pitchFamily="34" charset="0"/>
              </a:rPr>
              <a:t>='hist') for the XGBoost architecture.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endParaRPr lang="en-IN" dirty="0">
              <a:latin typeface="Bahnschrift Light" panose="020B0502040204020203" pitchFamily="34" charset="0"/>
            </a:endParaRP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Bahnschrift Light" panose="020B0502040204020203" pitchFamily="34" charset="0"/>
              </a:rPr>
              <a:t>Packet Ingestion:</a:t>
            </a:r>
            <a:r>
              <a:rPr lang="en-IN" dirty="0">
                <a:latin typeface="Bahnschrift Light" panose="020B0502040204020203" pitchFamily="34" charset="0"/>
              </a:rPr>
              <a:t> Utilize a </a:t>
            </a:r>
            <a:r>
              <a:rPr lang="en-IN" dirty="0" err="1">
                <a:latin typeface="Bahnschrift Light" panose="020B0502040204020203" pitchFamily="34" charset="0"/>
              </a:rPr>
              <a:t>Scapy</a:t>
            </a:r>
            <a:r>
              <a:rPr lang="en-IN" dirty="0">
                <a:latin typeface="Bahnschrift Light" panose="020B0502040204020203" pitchFamily="34" charset="0"/>
              </a:rPr>
              <a:t>-based Python script to extract statistical network features (e.g., flow duration, service flags) directly from Wireshark .</a:t>
            </a:r>
            <a:r>
              <a:rPr lang="en-IN" dirty="0" err="1">
                <a:latin typeface="Bahnschrift Light" panose="020B0502040204020203" pitchFamily="34" charset="0"/>
              </a:rPr>
              <a:t>pcap</a:t>
            </a:r>
            <a:r>
              <a:rPr lang="en-IN" dirty="0">
                <a:latin typeface="Bahnschrift Light" panose="020B0502040204020203" pitchFamily="34" charset="0"/>
              </a:rPr>
              <a:t> files.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endParaRPr lang="en-IN" dirty="0">
              <a:latin typeface="Bahnschrift Light" panose="020B0502040204020203" pitchFamily="34" charset="0"/>
            </a:endParaRP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Bahnschrift Light" panose="020B0502040204020203" pitchFamily="34" charset="0"/>
              </a:rPr>
              <a:t>UI Integration:</a:t>
            </a:r>
            <a:r>
              <a:rPr lang="en-IN" dirty="0">
                <a:latin typeface="Bahnschrift Light" panose="020B0502040204020203" pitchFamily="34" charset="0"/>
              </a:rPr>
              <a:t> Feed the extracted .</a:t>
            </a:r>
            <a:r>
              <a:rPr lang="en-IN" dirty="0" err="1">
                <a:latin typeface="Bahnschrift Light" panose="020B0502040204020203" pitchFamily="34" charset="0"/>
              </a:rPr>
              <a:t>pcap</a:t>
            </a:r>
            <a:r>
              <a:rPr lang="en-IN" dirty="0">
                <a:latin typeface="Bahnschrift Light" panose="020B0502040204020203" pitchFamily="34" charset="0"/>
              </a:rPr>
              <a:t> features through the trained model and SHAP explainer within the </a:t>
            </a:r>
            <a:r>
              <a:rPr lang="en-IN" dirty="0" err="1">
                <a:latin typeface="Bahnschrift Light" panose="020B0502040204020203" pitchFamily="34" charset="0"/>
              </a:rPr>
              <a:t>Streamlit</a:t>
            </a:r>
            <a:r>
              <a:rPr lang="en-IN" dirty="0">
                <a:latin typeface="Bahnschrift Light" panose="020B0502040204020203" pitchFamily="34" charset="0"/>
              </a:rPr>
              <a:t> interface.</a:t>
            </a:r>
          </a:p>
        </p:txBody>
      </p:sp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7"/>
          <p:cNvSpPr txBox="1">
            <a:spLocks noGrp="1"/>
          </p:cNvSpPr>
          <p:nvPr>
            <p:ph type="title"/>
          </p:nvPr>
        </p:nvSpPr>
        <p:spPr>
          <a:xfrm>
            <a:off x="448993" y="424479"/>
            <a:ext cx="3803338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Current Progress</a:t>
            </a:r>
            <a:endParaRPr dirty="0"/>
          </a:p>
        </p:txBody>
      </p:sp>
      <p:sp>
        <p:nvSpPr>
          <p:cNvPr id="865" name="Google Shape;865;p87"/>
          <p:cNvSpPr txBox="1">
            <a:spLocks noGrp="1"/>
          </p:cNvSpPr>
          <p:nvPr>
            <p:ph type="subTitle" idx="1"/>
          </p:nvPr>
        </p:nvSpPr>
        <p:spPr>
          <a:xfrm>
            <a:off x="374652" y="1114164"/>
            <a:ext cx="6985153" cy="1175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Bahnschrift Light" panose="020B0502040204020203" pitchFamily="34" charset="0"/>
              </a:rPr>
              <a:t>Dataset Preprocessing:</a:t>
            </a:r>
            <a:r>
              <a:rPr lang="en-IN" dirty="0">
                <a:latin typeface="Bahnschrift Light" panose="020B0502040204020203" pitchFamily="34" charset="0"/>
              </a:rPr>
              <a:t> Successfully engineered a robust data pipeline using the NSL-KDD dataset. Categorical features (protocol, service, flag) were one-hot encoded and continuous features were scaled.</a:t>
            </a:r>
          </a:p>
          <a:p>
            <a:pPr>
              <a:lnSpc>
                <a:spcPct val="150000"/>
              </a:lnSpc>
            </a:pPr>
            <a:endParaRPr lang="en-IN" dirty="0"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06FBF-D8CE-BB1E-D0D4-F213B4E6073A}"/>
              </a:ext>
            </a:extLst>
          </p:cNvPr>
          <p:cNvSpPr txBox="1"/>
          <p:nvPr/>
        </p:nvSpPr>
        <p:spPr>
          <a:xfrm>
            <a:off x="514815" y="2289717"/>
            <a:ext cx="8398726" cy="231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Bahnschrift Light" panose="020B0502040204020203" pitchFamily="34" charset="0"/>
              </a:rPr>
              <a:t>Baseline Model:</a:t>
            </a:r>
            <a:r>
              <a:rPr lang="en-IN" sz="1400" dirty="0">
                <a:latin typeface="Bahnschrift Light" panose="020B0502040204020203" pitchFamily="34" charset="0"/>
              </a:rPr>
              <a:t> A Random Forest classifier was trained on the </a:t>
            </a:r>
            <a:r>
              <a:rPr lang="en-IN" sz="1400" dirty="0" err="1">
                <a:latin typeface="Bahnschrift Light" panose="020B0502040204020203" pitchFamily="34" charset="0"/>
              </a:rPr>
              <a:t>preprocessed</a:t>
            </a:r>
            <a:r>
              <a:rPr lang="en-IN" sz="1400" dirty="0">
                <a:latin typeface="Bahnschrift Light" panose="020B0502040204020203" pitchFamily="34" charset="0"/>
              </a:rPr>
              <a:t> training matrices, establishing the system's baseline performance metrics.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Bahnschrift Light" panose="020B0502040204020203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Bahnschrift Light" panose="020B0502040204020203" pitchFamily="34" charset="0"/>
              </a:rPr>
              <a:t>Advanced Model:</a:t>
            </a:r>
            <a:r>
              <a:rPr lang="en-IN" sz="1400" dirty="0">
                <a:latin typeface="Bahnschrift Light" panose="020B0502040204020203" pitchFamily="34" charset="0"/>
              </a:rPr>
              <a:t> A high-performance XGBoost classifier was trained utilizing optimal hyperparameters to maximize detection capabilities.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Bahnschrift Light" panose="020B0502040204020203" pitchFamily="34" charset="0"/>
            </a:endParaRPr>
          </a:p>
          <a:p>
            <a:pPr marL="114300" lvl="0">
              <a:lnSpc>
                <a:spcPct val="150000"/>
              </a:lnSpc>
            </a:pPr>
            <a:r>
              <a:rPr lang="en-IN" sz="1400" b="1" dirty="0">
                <a:latin typeface="Bahnschrift Light" panose="020B0502040204020203" pitchFamily="34" charset="0"/>
              </a:rPr>
              <a:t>Tools &amp; Environment Used:</a:t>
            </a:r>
            <a:r>
              <a:rPr lang="en-IN" sz="1400" dirty="0">
                <a:latin typeface="Bahnschrift Light" panose="020B0502040204020203" pitchFamily="34" charset="0"/>
              </a:rPr>
              <a:t> Python, Scikit-learn, XGBoost, Pandas, and NumPy.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64;p87">
            <a:extLst>
              <a:ext uri="{FF2B5EF4-FFF2-40B4-BE49-F238E27FC236}">
                <a16:creationId xmlns:a16="http://schemas.microsoft.com/office/drawing/2014/main" id="{6E8531C2-9B46-6FB4-E03B-815B9D790C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3230"/>
            <a:ext cx="3803338" cy="512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latin typeface="Vidaloka" panose="020B0604020202020204" charset="0"/>
              </a:rPr>
              <a:t>Performance Analysis</a:t>
            </a:r>
            <a:endParaRPr sz="2000" b="1" dirty="0">
              <a:latin typeface="Vidaloka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AD5BB-4FA1-95B6-8E81-FF02018ACF19}"/>
              </a:ext>
            </a:extLst>
          </p:cNvPr>
          <p:cNvSpPr txBox="1"/>
          <p:nvPr/>
        </p:nvSpPr>
        <p:spPr>
          <a:xfrm>
            <a:off x="189571" y="795453"/>
            <a:ext cx="90064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IN" b="1">
                <a:effectLst/>
                <a:latin typeface="Bahnschrift Light" panose="020B0502040204020203" pitchFamily="34" charset="0"/>
              </a:rPr>
              <a:t>Accuracy Benchmark:</a:t>
            </a:r>
            <a:r>
              <a:rPr lang="en-IN">
                <a:effectLst/>
                <a:latin typeface="Bahnschrift Light" panose="020B0502040204020203" pitchFamily="34" charset="0"/>
              </a:rPr>
              <a:t> The XGBoost model successfully outperformed the baseline, achieving an overall accuracy of 80.42% compared to the Random Forest's 76.48%.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Bahnschrift Light" panose="020B0502040204020203" pitchFamily="34" charset="0"/>
              </a:rPr>
              <a:t>Precision (False Positives):</a:t>
            </a:r>
            <a:r>
              <a:rPr lang="en-IN" dirty="0">
                <a:effectLst/>
                <a:latin typeface="Bahnschrift Light" panose="020B0502040204020203" pitchFamily="34" charset="0"/>
              </a:rPr>
              <a:t> Both models achieved an exceptional precision rate of 97% for the anomaly class. Random Forest produced only 266 false positives, while XGBoost produced 307, indicating the system will successfully prevent alert fatigue for administrators.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Bahnschrift Light" panose="020B0502040204020203" pitchFamily="34" charset="0"/>
              </a:rPr>
              <a:t>Recall (Zero-Day Detection):</a:t>
            </a:r>
            <a:r>
              <a:rPr lang="en-IN" dirty="0">
                <a:effectLst/>
                <a:latin typeface="Bahnschrift Light" panose="020B0502040204020203" pitchFamily="34" charset="0"/>
              </a:rPr>
              <a:t> XGBoost identified 8,726 anomalous connections (68% recall), improving upon the baseline's 7,796 detections (61% recall). The models successfully illustrate the inherent difficulty of detecting entirely unseen novel attacks present in the evaluation dataset.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20E42D-7A27-9B25-4CF2-17174BE63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912"/>
          <a:stretch>
            <a:fillRect/>
          </a:stretch>
        </p:blipFill>
        <p:spPr>
          <a:xfrm>
            <a:off x="557039" y="2809343"/>
            <a:ext cx="3894157" cy="1637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449ADB-C39B-3AA7-70E9-7FFBCCFFD8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5199"/>
          <a:stretch>
            <a:fillRect/>
          </a:stretch>
        </p:blipFill>
        <p:spPr>
          <a:xfrm>
            <a:off x="4692805" y="2809343"/>
            <a:ext cx="3939881" cy="1637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/>
          <p:cNvSpPr txBox="1">
            <a:spLocks noGrp="1"/>
          </p:cNvSpPr>
          <p:nvPr>
            <p:ph type="title"/>
          </p:nvPr>
        </p:nvSpPr>
        <p:spPr>
          <a:xfrm>
            <a:off x="713250" y="31121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Upcoming Phases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DCA9F-3AFE-00B7-2D79-F08187763A42}"/>
              </a:ext>
            </a:extLst>
          </p:cNvPr>
          <p:cNvSpPr txBox="1"/>
          <p:nvPr/>
        </p:nvSpPr>
        <p:spPr>
          <a:xfrm>
            <a:off x="713250" y="1326533"/>
            <a:ext cx="7806282" cy="2633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ahnschrift Light" panose="020B0502040204020203" pitchFamily="34" charset="0"/>
              </a:rPr>
              <a:t>Phase 2 (Explainability):</a:t>
            </a:r>
            <a:r>
              <a:rPr lang="en-IN" dirty="0">
                <a:latin typeface="Bahnschrift Light" panose="020B0502040204020203" pitchFamily="34" charset="0"/>
              </a:rPr>
              <a:t> Integrate the SHAP script to extract global feature importance rankings and generate local force plots for individual intrusion alerts.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Light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ahnschrift Light" panose="020B0502040204020203" pitchFamily="34" charset="0"/>
              </a:rPr>
              <a:t>Phase 3 (Network Integration):</a:t>
            </a:r>
            <a:r>
              <a:rPr lang="en-IN" dirty="0">
                <a:latin typeface="Bahnschrift Light" panose="020B0502040204020203" pitchFamily="34" charset="0"/>
              </a:rPr>
              <a:t> Finalize the </a:t>
            </a:r>
            <a:r>
              <a:rPr lang="en-IN" dirty="0" err="1">
                <a:latin typeface="Bahnschrift Light" panose="020B0502040204020203" pitchFamily="34" charset="0"/>
              </a:rPr>
              <a:t>Scapy</a:t>
            </a:r>
            <a:r>
              <a:rPr lang="en-IN" dirty="0">
                <a:latin typeface="Bahnschrift Light" panose="020B0502040204020203" pitchFamily="34" charset="0"/>
              </a:rPr>
              <a:t> .</a:t>
            </a:r>
            <a:r>
              <a:rPr lang="en-IN" dirty="0" err="1">
                <a:latin typeface="Bahnschrift Light" panose="020B0502040204020203" pitchFamily="34" charset="0"/>
              </a:rPr>
              <a:t>pcap</a:t>
            </a:r>
            <a:r>
              <a:rPr lang="en-IN" dirty="0">
                <a:latin typeface="Bahnschrift Light" panose="020B0502040204020203" pitchFamily="34" charset="0"/>
              </a:rPr>
              <a:t> parser to bridge the gap between tabular dataset training and real-world network traffic.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Bahnschrift Light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ahnschrift Light" panose="020B0502040204020203" pitchFamily="34" charset="0"/>
              </a:rPr>
              <a:t>Phase 4 (Dashboarding):</a:t>
            </a:r>
            <a:r>
              <a:rPr lang="en-IN" dirty="0">
                <a:latin typeface="Bahnschrift Light" panose="020B0502040204020203" pitchFamily="34" charset="0"/>
              </a:rPr>
              <a:t> Assemble the interactive </a:t>
            </a:r>
            <a:r>
              <a:rPr lang="en-IN" dirty="0" err="1">
                <a:latin typeface="Bahnschrift Light" panose="020B0502040204020203" pitchFamily="34" charset="0"/>
              </a:rPr>
              <a:t>Streamlit</a:t>
            </a:r>
            <a:r>
              <a:rPr lang="en-IN" dirty="0">
                <a:latin typeface="Bahnschrift Light" panose="020B0502040204020203" pitchFamily="34" charset="0"/>
              </a:rPr>
              <a:t> dashboard for live classification and risk visualization.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22"/>
          <p:cNvSpPr txBox="1">
            <a:spLocks noGrp="1"/>
          </p:cNvSpPr>
          <p:nvPr>
            <p:ph type="title"/>
          </p:nvPr>
        </p:nvSpPr>
        <p:spPr>
          <a:xfrm>
            <a:off x="1244250" y="1957921"/>
            <a:ext cx="6655500" cy="1227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 You</a:t>
            </a:r>
            <a:endParaRPr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On-screen Show (16:9)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Crimson Text</vt:lpstr>
      <vt:lpstr>Bahnschrift Light</vt:lpstr>
      <vt:lpstr>Montserrat</vt:lpstr>
      <vt:lpstr>Merriweather Light</vt:lpstr>
      <vt:lpstr>Vidaloka</vt:lpstr>
      <vt:lpstr>Minimalist Business Slides XL by Slidesgo</vt:lpstr>
      <vt:lpstr>Innovative Approach to Machine Learning based Network Intrusion Detection System</vt:lpstr>
      <vt:lpstr>Abstract</vt:lpstr>
      <vt:lpstr>PowerPoint Presentation</vt:lpstr>
      <vt:lpstr>PowerPoint Presentation</vt:lpstr>
      <vt:lpstr>Proposed Solution</vt:lpstr>
      <vt:lpstr>Methodology</vt:lpstr>
      <vt:lpstr>Current Progress</vt:lpstr>
      <vt:lpstr>Performance Analysis</vt:lpstr>
      <vt:lpstr>Upcoming Phases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Gayatri Abburu</cp:lastModifiedBy>
  <cp:revision>1</cp:revision>
  <dcterms:modified xsi:type="dcterms:W3CDTF">2026-10-05T19:38:49Z</dcterms:modified>
</cp:coreProperties>
</file>